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IN" dirty="0"/>
              <a:t>Bluestock Mutual Fund Analytics Capstone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30818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Modernizing Data Architecture for Indian Retail Investors</a:t>
            </a:r>
          </a:p>
          <a:p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Presenter: Aarav </a:t>
            </a:r>
            <a:r>
              <a:rPr lang="en-I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aggarwal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2A2B-3F0F-3033-BBD1-53EB852C8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0A808-1960-063E-7024-022F7E6F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The Industry Context:</a:t>
            </a:r>
            <a:r>
              <a:rPr lang="en-IN" dirty="0"/>
              <a:t> The Indian Mutual Fund industry has crossed the Rs. 81L Crore AUM milestone. </a:t>
            </a:r>
          </a:p>
          <a:p>
            <a:r>
              <a:rPr lang="en-IN" b="1" dirty="0"/>
              <a:t>The Problem:</a:t>
            </a:r>
            <a:endParaRPr lang="en-IN" dirty="0"/>
          </a:p>
          <a:p>
            <a:pPr lvl="1"/>
            <a:r>
              <a:rPr lang="en-IN" b="1" dirty="0"/>
              <a:t>Data Fragmentation:</a:t>
            </a:r>
            <a:r>
              <a:rPr lang="en-IN" dirty="0"/>
              <a:t> Raw AMFI data is inconsistent, non-standardized, and difficult for retail investors to parse. </a:t>
            </a:r>
          </a:p>
          <a:p>
            <a:pPr lvl="1"/>
            <a:r>
              <a:rPr lang="en-IN" b="1" dirty="0"/>
              <a:t>Opaque Analytics:</a:t>
            </a:r>
            <a:r>
              <a:rPr lang="en-IN" dirty="0"/>
              <a:t> Retail investors lack accessible, institutional-grade risk metrics (</a:t>
            </a:r>
            <a:r>
              <a:rPr lang="en-IN" dirty="0" err="1"/>
              <a:t>VaR</a:t>
            </a:r>
            <a:r>
              <a:rPr lang="en-IN" dirty="0"/>
              <a:t>, CVaR, Sharpe Ratios) to make informed decisions. </a:t>
            </a:r>
          </a:p>
          <a:p>
            <a:r>
              <a:rPr lang="en-IN" b="1" dirty="0"/>
              <a:t>The Objective:</a:t>
            </a:r>
            <a:endParaRPr lang="en-IN" dirty="0"/>
          </a:p>
          <a:p>
            <a:pPr lvl="1"/>
            <a:r>
              <a:rPr lang="en-IN" b="1" dirty="0"/>
              <a:t>Engineering:</a:t>
            </a:r>
            <a:r>
              <a:rPr lang="en-IN" dirty="0"/>
              <a:t> Build an automated, end-to-end data pipeline to transform raw files into a structured SQLite Star Schema. </a:t>
            </a:r>
          </a:p>
          <a:p>
            <a:pPr lvl="1"/>
            <a:r>
              <a:rPr lang="en-IN" b="1" dirty="0"/>
              <a:t>Analytics:</a:t>
            </a:r>
            <a:r>
              <a:rPr lang="en-IN" dirty="0"/>
              <a:t> Deliver actionable, risk-adjusted insights and a dynamic recommendation engine. </a:t>
            </a:r>
          </a:p>
          <a:p>
            <a:pPr lvl="1"/>
            <a:r>
              <a:rPr lang="en-IN" b="1" dirty="0"/>
              <a:t>Visualization:</a:t>
            </a:r>
            <a:r>
              <a:rPr lang="en-IN" dirty="0"/>
              <a:t> Provide an interactive dashboard to democratize market data for retail users.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3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CB82-8A3F-D9D8-F26D-B325BD99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0348-B6C4-99B7-C717-AAF82335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Fund Master Data (01_fund_master.csv):</a:t>
            </a:r>
            <a:r>
              <a:rPr lang="en-IN" dirty="0"/>
              <a:t> Comprehensive metadata including AMC names, fund categories, and benchmark indices. </a:t>
            </a:r>
          </a:p>
          <a:p>
            <a:r>
              <a:rPr lang="en-IN" b="1" dirty="0"/>
              <a:t>Historical Valuations (02_nav_history.csv):</a:t>
            </a:r>
            <a:r>
              <a:rPr lang="en-IN" dirty="0"/>
              <a:t> Daily Net Asset Value (NAV) data across the 2022–2026 period, forming the backbone for all risk and return </a:t>
            </a:r>
            <a:r>
              <a:rPr lang="en-IN" dirty="0" err="1"/>
              <a:t>modeling</a:t>
            </a:r>
            <a:r>
              <a:rPr lang="en-IN" dirty="0"/>
              <a:t>. </a:t>
            </a:r>
          </a:p>
          <a:p>
            <a:r>
              <a:rPr lang="en-IN" b="1" dirty="0"/>
              <a:t>Investor Analytics (08_investor_transactions.csv):</a:t>
            </a:r>
            <a:r>
              <a:rPr lang="en-IN" dirty="0"/>
              <a:t> Millions of transaction logs covering SIPs, lumpsums, and redemptions, mapped to granular demographics (age, state, city-tier, and KYC status). </a:t>
            </a:r>
          </a:p>
          <a:p>
            <a:r>
              <a:rPr lang="en-IN" b="1" dirty="0"/>
              <a:t>Performance Benchmarks (07_scheme_performance.csv):</a:t>
            </a:r>
            <a:r>
              <a:rPr lang="en-IN" dirty="0"/>
              <a:t> Aggregated metrics including multi-year CAGRs, Sharpe ratios, and standard deviations for comparative benchmarking. </a:t>
            </a:r>
          </a:p>
          <a:p>
            <a:r>
              <a:rPr lang="en-IN" b="1" dirty="0"/>
              <a:t>Goal:</a:t>
            </a:r>
            <a:r>
              <a:rPr lang="en-IN" dirty="0"/>
              <a:t> Consolidate fragmented, raw inputs into a unified, high-integrity relational dataset.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2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F24E-BF99-1FA9-8B15-35A63AB2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F5CC-6169-1B37-8960-7B5356B7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45946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ETL Pipeline (Python/Pandas):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Automated extraction, cleaning, and transformation of raw CSV files.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Regex-based string cleaning and explicit data type casting (REAL, INTEGER) to prevent database parsing errors.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(SQLite3):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Star Schema architecture optimizing for performance.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Central </a:t>
            </a:r>
            <a:r>
              <a:rPr lang="en-IN" dirty="0" err="1"/>
              <a:t>dim_fund</a:t>
            </a:r>
            <a:r>
              <a:rPr lang="en-IN" dirty="0"/>
              <a:t> dimension table linked via Foreign Keys (</a:t>
            </a:r>
            <a:r>
              <a:rPr lang="en-IN" dirty="0" err="1"/>
              <a:t>amfi_code</a:t>
            </a:r>
            <a:r>
              <a:rPr lang="en-IN" dirty="0"/>
              <a:t>) to </a:t>
            </a:r>
            <a:r>
              <a:rPr lang="en-IN" dirty="0" err="1"/>
              <a:t>fact_nav</a:t>
            </a:r>
            <a:r>
              <a:rPr lang="en-IN" dirty="0"/>
              <a:t>, </a:t>
            </a:r>
            <a:r>
              <a:rPr lang="en-IN" dirty="0" err="1"/>
              <a:t>fact_transactions</a:t>
            </a:r>
            <a:r>
              <a:rPr lang="en-IN" dirty="0"/>
              <a:t>, and </a:t>
            </a:r>
            <a:r>
              <a:rPr lang="en-IN" dirty="0" err="1"/>
              <a:t>fact_performance</a:t>
            </a:r>
            <a:r>
              <a:rPr lang="en-IN" dirty="0"/>
              <a:t> tables.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Analytics Layer: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Pre-aggregated materialized views (e.g., </a:t>
            </a:r>
            <a:r>
              <a:rPr lang="en-IN" dirty="0" err="1"/>
              <a:t>aum_by_fund_house</a:t>
            </a:r>
            <a:r>
              <a:rPr lang="en-IN" dirty="0"/>
              <a:t>) designed to optimize Power BI rendering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Unified run_pipeline.py execution script ensuring end-to-end reproducibility of the data flow. </a:t>
            </a:r>
          </a:p>
        </p:txBody>
      </p:sp>
    </p:spTree>
    <p:extLst>
      <p:ext uri="{BB962C8B-B14F-4D97-AF65-F5344CB8AC3E}">
        <p14:creationId xmlns:p14="http://schemas.microsoft.com/office/powerpoint/2010/main" val="172463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E6CF-C956-C74C-3AF7-171FB9A6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EDA Highlights - Industry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A5D9-FC18-AA02-0612-4CDA67E34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/>
              <a:t>.</a:t>
            </a:r>
            <a:r>
              <a:rPr lang="en-IN" sz="1600" b="1"/>
              <a:t> AUM Growth:</a:t>
            </a:r>
            <a:r>
              <a:rPr lang="en-IN" sz="1600"/>
              <a:t> The industry experienced aggressive capital acceleration, with SBI Mutual Fund establishing clear market dominance by surpassing 1.2 Million Rs. Crores in AUM by 2025.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b="1"/>
              <a:t>Folio Expansion:</a:t>
            </a:r>
            <a:r>
              <a:rPr lang="en-IN" sz="1600"/>
              <a:t> There was an industry-wide surge in active retail investor accounts, growing from 13.26 Crore at the start of 2022 to 26.12 Crore by the end of 2025.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b="1"/>
              <a:t>Market Concentration:</a:t>
            </a:r>
            <a:r>
              <a:rPr lang="en-IN" sz="1600"/>
              <a:t> While the AUM expanded industry-wide, the asset distribution remains highly consolidated at the top, with a small tier of major AMCs commanding the majority of the market share.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/>
          </a:p>
          <a:p>
            <a:pPr marL="0" indent="0">
              <a:lnSpc>
                <a:spcPct val="100000"/>
              </a:lnSpc>
              <a:buNone/>
            </a:pPr>
            <a:endParaRPr lang="en-IN" sz="16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5A6B4-C230-1814-77BE-6B3478B2D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944" y="2379306"/>
            <a:ext cx="4639736" cy="3247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141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400C-A4D7-2146-E4CA-1053D0E0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EDA Highlights - Investor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336C0-F5FF-F8F1-48C1-31C14F184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Age Demographic Engine:</a:t>
            </a:r>
            <a:r>
              <a:rPr lang="en-IN" sz="1500"/>
              <a:t> The 26–35 age bracket serves as the core driver of the retail investor base, accounting for 41.1% of all active accounts.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/>
              <a:t>Regional Penetration: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/>
              <a:t>Tier-30 (T30) cities maintain dominance, contributing 66.6% of total SIP capital.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/>
              <a:t>Beyond-30 (B30) locations represent a growing footprint, with states like Madhya Pradesh and Punjab emerging as leaders in transaction volume, outpacing traditional financial hubs.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Transaction Dynamics:</a:t>
            </a:r>
            <a:r>
              <a:rPr lang="en-IN" sz="1500"/>
              <a:t> While younger cohorts drive transaction frequency, senior demographics (56+) maintain the highest average transaction value, </a:t>
            </a:r>
            <a:r>
              <a:rPr lang="en-IN" sz="1500" err="1"/>
              <a:t>signaling</a:t>
            </a:r>
            <a:r>
              <a:rPr lang="en-IN" sz="1500"/>
              <a:t> a two-tiered market participation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0B775-642A-C466-9E5C-DFAA24E86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016" y="2593910"/>
            <a:ext cx="5418664" cy="27152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472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1462-62A8-C91F-342E-ACD24B6B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Performance Metrics – Risk-Adjusted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28FF-F24A-28A0-BBF9-20563B528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300" b="1"/>
              <a:t>Alpha Generation:</a:t>
            </a:r>
            <a:r>
              <a:rPr lang="en-IN" sz="1300"/>
              <a:t> Top-tier equity funds demonstrated strong alpha generation, with several schemes delivering over 150% cumulative returns across the 3-year trailing period, consistently outperforming the Nifty 50 benchmark.</a:t>
            </a:r>
          </a:p>
          <a:p>
            <a:pPr>
              <a:lnSpc>
                <a:spcPct val="100000"/>
              </a:lnSpc>
            </a:pPr>
            <a:r>
              <a:rPr lang="en-IN" sz="1300" b="1"/>
              <a:t>Sharpe Ratio Volatility:</a:t>
            </a:r>
            <a:r>
              <a:rPr lang="en-IN" sz="1300"/>
              <a:t> The analysis of rolling 90-day Sharpe Ratios reveals that fund performance is highly cyclical. Even high-performing schemes show significant instability, moving between periods of extreme risk-adjusted outperformance and brief windows of capital erosion.</a:t>
            </a:r>
          </a:p>
          <a:p>
            <a:pPr>
              <a:lnSpc>
                <a:spcPct val="100000"/>
              </a:lnSpc>
            </a:pPr>
            <a:r>
              <a:rPr lang="en-IN" sz="1300" b="1"/>
              <a:t>Investment Insight:</a:t>
            </a:r>
            <a:r>
              <a:rPr lang="en-IN" sz="1300"/>
              <a:t> The data suggests that high historical returns are frequently accompanied by substantial volatility, emphasizing the necessity of risk-adjusted metrics over absolute CAGR for retail selection</a:t>
            </a:r>
          </a:p>
          <a:p>
            <a:pPr>
              <a:lnSpc>
                <a:spcPct val="100000"/>
              </a:lnSpc>
            </a:pPr>
            <a:endParaRPr lang="en-IN" sz="13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2A495-4683-00DC-EFCA-16F821F3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5" y="2211355"/>
            <a:ext cx="5654351" cy="33870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7663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FD36-4D15-956D-108E-AC2B4076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Performance Metrics – Tail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36DD-7207-7916-903C-C4E8F851B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200" b="1"/>
              <a:t>Downside Vulnerability:</a:t>
            </a:r>
            <a:r>
              <a:rPr lang="en-IN" sz="1200"/>
              <a:t> Standard deviation provides an incomplete picture; our model implemented </a:t>
            </a:r>
            <a:r>
              <a:rPr lang="en-IN" sz="1200" b="1"/>
              <a:t>95% Historical Value at Risk (</a:t>
            </a:r>
            <a:r>
              <a:rPr lang="en-IN" sz="1200" b="1" err="1"/>
              <a:t>VaR</a:t>
            </a:r>
            <a:r>
              <a:rPr lang="en-IN" sz="1200" b="1"/>
              <a:t>)</a:t>
            </a:r>
            <a:r>
              <a:rPr lang="en-IN" sz="1200"/>
              <a:t> to quantify true downside exposure.</a:t>
            </a:r>
          </a:p>
          <a:p>
            <a:pPr>
              <a:lnSpc>
                <a:spcPct val="100000"/>
              </a:lnSpc>
            </a:pPr>
            <a:r>
              <a:rPr lang="en-IN" sz="1200" b="1"/>
              <a:t>Small-Cap Tail Risk:</a:t>
            </a:r>
            <a:r>
              <a:rPr lang="en-IN" sz="1200"/>
              <a:t> The data confirms that Small-Cap portfolios carry the highest extreme-risk burden. Funds like the </a:t>
            </a:r>
            <a:r>
              <a:rPr lang="en-IN" sz="1200" i="1"/>
              <a:t>SBI Small Cap</a:t>
            </a:r>
            <a:r>
              <a:rPr lang="en-IN" sz="1200"/>
              <a:t> and </a:t>
            </a:r>
            <a:r>
              <a:rPr lang="en-IN" sz="1200" i="1"/>
              <a:t>ABSL Small Cap</a:t>
            </a:r>
            <a:r>
              <a:rPr lang="en-IN" sz="1200"/>
              <a:t> recorded 95% </a:t>
            </a:r>
            <a:r>
              <a:rPr lang="en-IN" sz="1200" err="1"/>
              <a:t>VaR</a:t>
            </a:r>
            <a:r>
              <a:rPr lang="en-IN" sz="1200"/>
              <a:t> levels exceeding </a:t>
            </a:r>
            <a:r>
              <a:rPr lang="en-IN" sz="1200" b="1"/>
              <a:t>-2.6%</a:t>
            </a:r>
            <a:r>
              <a:rPr lang="en-IN" sz="1200"/>
              <a:t>, meaning a 5% probability of losing that amount in a single trading session.</a:t>
            </a:r>
          </a:p>
          <a:p>
            <a:pPr>
              <a:lnSpc>
                <a:spcPct val="100000"/>
              </a:lnSpc>
            </a:pPr>
            <a:r>
              <a:rPr lang="en-IN" sz="1200" b="1"/>
              <a:t>Conditional </a:t>
            </a:r>
            <a:r>
              <a:rPr lang="en-IN" sz="1200" b="1" err="1"/>
              <a:t>VaR</a:t>
            </a:r>
            <a:r>
              <a:rPr lang="en-IN" sz="1200" b="1"/>
              <a:t> (CVaR):</a:t>
            </a:r>
            <a:r>
              <a:rPr lang="en-IN" sz="1200"/>
              <a:t> In extreme market stress scenarios (the worst 5% of trading days), CVaR figures for small-cap funds deteriorated to over </a:t>
            </a:r>
            <a:r>
              <a:rPr lang="en-IN" sz="1200" b="1"/>
              <a:t>-3.2%</a:t>
            </a:r>
            <a:r>
              <a:rPr lang="en-IN" sz="1200"/>
              <a:t>, highlighting the need for defensive hedging in aggressive equity portfolios.</a:t>
            </a:r>
          </a:p>
          <a:p>
            <a:pPr>
              <a:lnSpc>
                <a:spcPct val="100000"/>
              </a:lnSpc>
            </a:pPr>
            <a:r>
              <a:rPr lang="en-IN" sz="1200" b="1"/>
              <a:t>Sector Concentration:</a:t>
            </a:r>
            <a:r>
              <a:rPr lang="en-IN" sz="1200"/>
              <a:t> HHI analysis identified significant sector clustering (Banking/IT/Pharma), indicating that portfolio risk is often driven by narrow sector bets rather than broad market movement.</a:t>
            </a:r>
          </a:p>
          <a:p>
            <a:pPr>
              <a:lnSpc>
                <a:spcPct val="100000"/>
              </a:lnSpc>
            </a:pPr>
            <a:endParaRPr lang="en-IN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C2C11-5E74-4A63-D0C0-D21922D98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0900"/>
            <a:ext cx="5059680" cy="32660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896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71A7-ED1C-9785-218E-6B2803083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Dashboard Screenshots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E207-6122-46AB-924F-1F4C5112A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35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Page 1: Industry Overview: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KPIs:</a:t>
            </a:r>
            <a:r>
              <a:rPr lang="en-IN" sz="1300" dirty="0"/>
              <a:t> Tracks critical industry health metrics, including Total AUM (approaching 40M Crores) and the 26.12 Crore Folio milestone.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Visualization:</a:t>
            </a:r>
            <a:r>
              <a:rPr lang="en-IN" sz="1300" dirty="0"/>
              <a:t> A time-series trendline visualizing the rapid AUM acceleration from 2022–2025, complemented by a bar chart ranking top Asset Management Companies (AMCs) like SBI, ICICI, and HDFC.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Page 2: Fund Performance Analysis: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Functionality:</a:t>
            </a:r>
            <a:r>
              <a:rPr lang="en-IN" sz="1300" dirty="0"/>
              <a:t> Features interactive "slice-and-dice" filters for AMC, plan type (Direct vs. Regular), and category.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Risk-Return Matrix:</a:t>
            </a:r>
            <a:r>
              <a:rPr lang="en-IN" sz="1300" dirty="0"/>
              <a:t> A scatter plot visualizing the trade-off between 3-year returns and annualized volatility, effectively mapping high-alpha "outperformers" against risk-heavy underperformers.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F62F1-8E25-CA9C-6475-DE3375EB2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56" y="2003137"/>
            <a:ext cx="6242624" cy="2130324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802622-2869-CF2F-5CBF-7347DFE1C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056" y="4133461"/>
            <a:ext cx="6242624" cy="208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2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8916-28E1-828F-1B44-D03BC96F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N" dirty="0"/>
              <a:t>Dashboard Screenshots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E1917-BBA8-741C-1EAF-844BADD67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04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Page 3: Market &amp; Inflow Trends: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Capital Velocity:</a:t>
            </a:r>
            <a:r>
              <a:rPr lang="en-IN" sz="1300" dirty="0"/>
              <a:t> A dual-axis combo chart showcasing the direct correlation between the rise in Systematic Investment Plans (SIPs) and the growth of active investor accounts.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Category Heatmap:</a:t>
            </a:r>
            <a:r>
              <a:rPr lang="en-IN" sz="1300" dirty="0"/>
              <a:t> Visualizes net inflows across sectors, identifying Liquid funds as the primary drivers of consistent market liquidity, alongside strong volume in Sectoral and Flexi-cap categories.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Page 4: Investor Analytics: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Demographic Segmentation:</a:t>
            </a:r>
            <a:r>
              <a:rPr lang="en-IN" sz="1300" dirty="0"/>
              <a:t> A donut chart and trend analysis documenting that Lumpsum investments dominate absolute volume (58.49%), while SIPs form the critical, high-frequency recurring base.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Spatial Intelligence:</a:t>
            </a:r>
            <a:r>
              <a:rPr lang="en-IN" sz="1300" dirty="0"/>
              <a:t> A geographic distribution map contrasting capital contribution between T30 (Top 30) and B30 (Beyond 30) regions, highlighting untapped market opportunities in tier-2 and tier-3 cities.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AF6AB-CE79-A996-9F0F-C32B98441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40" y="2003138"/>
            <a:ext cx="6417040" cy="211166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B2C760-135C-323A-B68D-03D1C54F4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40" y="4232562"/>
            <a:ext cx="6417039" cy="212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1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67D6-C43F-09BB-9690-0BA104D2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6C97-D469-36DB-95C9-5DBE03E0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92599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Actionable Retention Logic:</a:t>
            </a:r>
            <a:r>
              <a:rPr lang="en-IN" dirty="0"/>
              <a:t> Analysis revealed that </a:t>
            </a:r>
            <a:r>
              <a:rPr lang="en-IN" b="1" dirty="0"/>
              <a:t>97.8%</a:t>
            </a:r>
            <a:r>
              <a:rPr lang="en-IN" dirty="0"/>
              <a:t> of active investors experience a &gt;35-day payment gap in their SIP cycles. We proposed a programmatic "Early Warning Intercept" system to flag these accounts for retention teams before they enter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Recommendation Engine:</a:t>
            </a:r>
            <a:r>
              <a:rPr lang="en-IN" dirty="0"/>
              <a:t> Developed a robust, risk-graded filtering engine that ranks assets using the </a:t>
            </a:r>
            <a:r>
              <a:rPr lang="en-IN" b="1" dirty="0"/>
              <a:t>Sharpe Ratio</a:t>
            </a:r>
            <a:r>
              <a:rPr lang="en-IN" dirty="0"/>
              <a:t> while suppressing high-volatility schemes based on their annualized Standard Deviation.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Geographic Opportunity:</a:t>
            </a:r>
            <a:r>
              <a:rPr lang="en-IN" dirty="0"/>
              <a:t> While T30 cities drive 66.6% of capital, the momentum in B30 states like Madhya Pradesh and Punjab indicates a massive, under-served market ripe for regional marketing penetration.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Future Architectural Roadmap: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Scale:</a:t>
            </a:r>
            <a:r>
              <a:rPr lang="en-IN" dirty="0"/>
              <a:t> Transitioning from local SQLite to cloud-native warehousing (PostgreSQL/</a:t>
            </a:r>
            <a:r>
              <a:rPr lang="en-IN" dirty="0" err="1"/>
              <a:t>BigQuery</a:t>
            </a:r>
            <a:r>
              <a:rPr lang="en-IN" dirty="0"/>
              <a:t>) to resolve write-locking and concurrency issues.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Real-Time:</a:t>
            </a:r>
            <a:r>
              <a:rPr lang="en-IN" dirty="0"/>
              <a:t> Replacing batch CSV processing with live AMFI API stream integration to eliminate data latency.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14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54AF-0285-E5E4-4E86-076D076D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THANK-YOU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464C6-789F-AB4B-DDAF-6753C5C2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Project Summary:</a:t>
            </a:r>
            <a:r>
              <a:rPr lang="en-IN" dirty="0"/>
              <a:t> A comprehensive end-to-end data engineering and analytics solution for the Indian Mutual Fund industry, bridging raw data to actionable financial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Thank You:</a:t>
            </a:r>
            <a:r>
              <a:rPr lang="en-IN" dirty="0"/>
              <a:t> Thank you for your time and for the opportunity to present this capstone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Connect &amp; Explore: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 err="1"/>
              <a:t>Github</a:t>
            </a:r>
            <a:r>
              <a:rPr lang="en-IN" dirty="0"/>
              <a:t> Repo: https://github.com/aaravaggarwal3535/Capstone-Project-I---Mutual-Fund-Analytics</a:t>
            </a:r>
          </a:p>
        </p:txBody>
      </p:sp>
    </p:spTree>
    <p:extLst>
      <p:ext uri="{BB962C8B-B14F-4D97-AF65-F5344CB8AC3E}">
        <p14:creationId xmlns:p14="http://schemas.microsoft.com/office/powerpoint/2010/main" val="24091627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{B6158514-48EA-4AB1-A08E-B1AC563C9206}TFf0a5ceae-4542-492d-822e-d65a94fb0e1e3b562c5a_win32-009a0557e699</Template>
  <TotalTime>48</TotalTime>
  <Words>1355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Custom</vt:lpstr>
      <vt:lpstr>Bluestock Mutual Fund Analytics Capstone</vt:lpstr>
      <vt:lpstr>Problem &amp; Objective</vt:lpstr>
      <vt:lpstr>Data Sources</vt:lpstr>
      <vt:lpstr>Architecture</vt:lpstr>
      <vt:lpstr>EDA Highlights - Industry Scale</vt:lpstr>
      <vt:lpstr>EDA Highlights - Investor Behavior</vt:lpstr>
      <vt:lpstr>Performance Metrics – Risk-Adjusted Returns</vt:lpstr>
      <vt:lpstr>Performance Metrics – Tail Risk</vt:lpstr>
      <vt:lpstr>Dashboard Screenshots (Part 1)</vt:lpstr>
      <vt:lpstr>Dashboard Screenshots (Part 2)</vt:lpstr>
      <vt:lpstr>Key Findings</vt:lpstr>
      <vt:lpstr>THANK-YOU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Aarav Aggarwal</dc:creator>
  <cp:lastModifiedBy>Aarav Aggarwal</cp:lastModifiedBy>
  <cp:revision>1</cp:revision>
  <dcterms:created xsi:type="dcterms:W3CDTF">2026-06-30T08:46:59Z</dcterms:created>
  <dcterms:modified xsi:type="dcterms:W3CDTF">2026-06-30T09:35:33Z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